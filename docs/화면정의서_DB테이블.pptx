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80000" y="108000"/>
          <a:ext cx="106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0"/>
                <a:gridCol w="2700000"/>
                <a:gridCol w="648000"/>
                <a:gridCol w="3060000"/>
                <a:gridCol w="648000"/>
                <a:gridCol w="1080000"/>
                <a:gridCol w="648000"/>
                <a:gridCol w="1080000"/>
              </a:tblGrid>
              <a:tr h="28800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프로젝트명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GIMS Sync Orchestrator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 rowSpan="2"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문서명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 rowSpan="2"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화면 정의서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작성자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Claude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작업일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2026-03-20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시스템명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동기화 관제 시스템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 vMerge="1"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 vMerge="1"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확인자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확인일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화면ID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UI_ORCH_001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화면명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대시보드 (Dashboard)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버전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1.0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80000" y="1080000"/>
            <a:ext cx="8413200" cy="3060000"/>
          </a:xfrm>
          <a:prstGeom prst="rect">
            <a:avLst/>
          </a:prstGeom>
          <a:solidFill>
            <a:srgbClr val="FAFAFA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152000"/>
            <a:ext cx="8197200" cy="216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경로: 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1440000"/>
            <a:ext cx="8197200" cy="2628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[ 통계 카드 영역 ]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┌──────┐ ┌──────┐ ┌──────┐ ┌──────┐ ┌──────┐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│전체   │ │Online│ │실행중 │ │오늘   │ │오늘   │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│Agent │ │Agent │ │      │ │총실행 │ │실패   │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└──────┘ └──────┘ └──────┘ └──────┘ └──────┘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[ Agent 상태 테이블 ]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Agent명 | 코드 | Zone | 상태 | 마지막실행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──────────────────────────────────────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[ 최근 실행 이력 테이블 ]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Agent | 유형 | 상태 | R/W/S | 소요시간 | 트리거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3200" y="1080000"/>
            <a:ext cx="3240000" cy="251999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설    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3200" y="1368000"/>
            <a:ext cx="3240000" cy="1440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1. 실행 통계 카드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전체 Agent 수, Online/Offline 수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현재 실행 중, 오늘 총 실행, 오늘 실패 건수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2. Agent 상태 테이블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Agent명, 코드, Zone, 상태, 마지막 실행 결과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카드 클릭 시 필터링 연동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3. 최근 실행 이력 테이블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Agent명, 유형, 상태, 읽기/쓰기/스킵 건수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소요시간, 트리거 유형, 시작시각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- 10초 주기 자동 갱신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3200" y="2700000"/>
            <a:ext cx="3240000" cy="251999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관련테이블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3200" y="2988000"/>
            <a:ext cx="3240000" cy="1080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1. agent  (에이전트 등록정보)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2. execution_history  (실행 이력)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80000" y="108000"/>
          <a:ext cx="106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0"/>
                <a:gridCol w="2700000"/>
                <a:gridCol w="648000"/>
                <a:gridCol w="3060000"/>
                <a:gridCol w="648000"/>
                <a:gridCol w="1080000"/>
                <a:gridCol w="648000"/>
                <a:gridCol w="1080000"/>
              </a:tblGrid>
              <a:tr h="28800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프로젝트명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GIMS Sync Orchestrator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 rowSpan="2"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문서명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 rowSpan="2"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화면 정의서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작성자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Claude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작업일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2026-03-20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시스템명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동기화 관제 시스템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 vMerge="1"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 vMerge="1"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확인자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확인일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화면ID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UI_ORCH_002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화면명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Agent 관리 (Agent Management)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버전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1.0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80000" y="1080000"/>
            <a:ext cx="8413200" cy="3060000"/>
          </a:xfrm>
          <a:prstGeom prst="rect">
            <a:avLst/>
          </a:prstGeom>
          <a:solidFill>
            <a:srgbClr val="FAFAFA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152000"/>
            <a:ext cx="8197200" cy="216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경로: /agents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1440000"/>
            <a:ext cx="8197200" cy="2628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[ Agent 등록 버튼 ]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▼ RCV (수신) ─────────────────────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  코드 | 이름 | Zone | 상태 | 액션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  ────────────────────────────────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▼ LOADER ─────────────────────────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  코드 | 이름 | Zone | 상태 | 액션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▼ SND (송신) ─────────────────────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  코드 | 이름 | Zone | 상태 | 액션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▼ DB_CON_PROXY ───────────────────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  코드 | 이름 | Zone | 상태 | 액션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3200" y="1080000"/>
            <a:ext cx="3240000" cy="251999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설    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3200" y="1368000"/>
            <a:ext cx="3240000" cy="1440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1. Agent 목록 (유형별 그룹)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RCV(수신), LOADER(적재), SND(송신),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  DB_CON_PROXY 유형별 접기/펼치기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Agent코드, 이름, Zone, 상태, 마지막실행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2. Agent 등록 (3단계 폼)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Step 1: 엔드포인트 URL 입력 → Agent 탐색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Step 2: Agent 선택, 기본정보 입력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Step 3: 데이터소스/테이블 설정, 스케줄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3. 액션 버튼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헬스체크, 상세보기, 삭제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3200" y="2700000"/>
            <a:ext cx="3240000" cy="251999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관련테이블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3200" y="2988000"/>
            <a:ext cx="3240000" cy="1080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1. agent  (에이전트 등록정보)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2. agent_table  (에이전트-테이블 매핑)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3. schedule  (스케줄 설정 (등록 시 생성))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80000" y="108000"/>
          <a:ext cx="106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0"/>
                <a:gridCol w="2700000"/>
                <a:gridCol w="648000"/>
                <a:gridCol w="3060000"/>
                <a:gridCol w="648000"/>
                <a:gridCol w="1080000"/>
                <a:gridCol w="648000"/>
                <a:gridCol w="1080000"/>
              </a:tblGrid>
              <a:tr h="28800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프로젝트명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GIMS Sync Orchestrator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 rowSpan="2"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문서명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 rowSpan="2"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화면 정의서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작성자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Claude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작업일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2026-03-20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시스템명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동기화 관제 시스템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 vMerge="1"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 vMerge="1"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확인자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확인일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화면ID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UI_ORCH_003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화면명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Agent 상세 (Agent Detail)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버전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1.0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80000" y="1080000"/>
            <a:ext cx="8413200" cy="3060000"/>
          </a:xfrm>
          <a:prstGeom prst="rect">
            <a:avLst/>
          </a:prstGeom>
          <a:solidFill>
            <a:srgbClr val="FAFAFA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152000"/>
            <a:ext cx="8197200" cy="216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경로: /agents/[id]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1440000"/>
            <a:ext cx="8197200" cy="2628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[ Agent명 ]  [상태 뱃지]  [헬스체크] [실행] [삭제]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━━━━━━━━━━━━━━━━━━━━━━━━━━━━━━━━━━━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[ 기본정보 탭 | 이력 탭 ]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┌ 기본정보 ────────────────────────┐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│ 코드: xxx  유형: RCV  Zone: DMZ  │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│ 소스DS: xxx  타겟DS: xxx         │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│ Retention: 30일                  │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└──────────────────────────────────┘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┌ 조건실행 ────────────────────────┐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│ 테이블 | 컬럼 | 연산자 | 값      │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└──────────────────────────────────┘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┌ 스케줄 목록 ────────────────────┐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│ Cron | 활성 | 수정 | 삭제        │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└──────────────────────────────────┘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3200" y="1080000"/>
            <a:ext cx="3240000" cy="251999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설    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3200" y="1368000"/>
            <a:ext cx="3240000" cy="1440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1. 기본정보 탭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Agent 코드, 이름, 유형, Zone, 상태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소스/타겟 데이터소스 연결 정보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Select Tables (조건실행 대상)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Retention 설정 (보존일수, 대상 테이블)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2. 스케줄 관리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Cron 표현식, 활성/비활성 토글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조건실행 옵션 (WHERE 조건 빌더)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3. 이력 탭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해당 Agent 실행 이력 (페이징)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4. 액션: 헬스체크, 수동실행, 삭제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3200" y="2700000"/>
            <a:ext cx="3240000" cy="251999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관련테이블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3200" y="2988000"/>
            <a:ext cx="3240000" cy="1080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1. agent  (에이전트 등록정보)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2. schedule  (스케줄 설정)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3. execution_history  (실행 이력 (이력 탭))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80000" y="108000"/>
          <a:ext cx="106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0"/>
                <a:gridCol w="2700000"/>
                <a:gridCol w="648000"/>
                <a:gridCol w="3060000"/>
                <a:gridCol w="648000"/>
                <a:gridCol w="1080000"/>
                <a:gridCol w="648000"/>
                <a:gridCol w="1080000"/>
              </a:tblGrid>
              <a:tr h="28800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프로젝트명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GIMS Sync Orchestrator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 rowSpan="2"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문서명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 rowSpan="2"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화면 정의서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작성자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Claude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작업일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2026-03-20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시스템명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동기화 관제 시스템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 vMerge="1"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 vMerge="1"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확인자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확인일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화면ID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UI_ORCH_004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화면명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실행 이력 (Execution History)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버전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1.0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80000" y="1080000"/>
            <a:ext cx="8413200" cy="3060000"/>
          </a:xfrm>
          <a:prstGeom prst="rect">
            <a:avLst/>
          </a:prstGeom>
          <a:solidFill>
            <a:srgbClr val="FAFAFA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152000"/>
            <a:ext cx="8197200" cy="216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경로: /executions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1440000"/>
            <a:ext cx="8197200" cy="2628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┌ 검색 필터 ──────────────────────┐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│ 상태[▼] Zone[▼] Agent코드[▼]    │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│ Agent유형[▼]                     │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│ 시작일[    ] ~ 종료일[    ]      │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│ 검색어[              ] [조회]    │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└──────────────────────────────────┘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총 XX건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Agent | 코드 | 유형 | 상태 | R | W | S | 시간 | 트리거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...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         &lt; 1 2 3 4 5 ... 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3200" y="1080000"/>
            <a:ext cx="3240000" cy="251999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설    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3200" y="1368000"/>
            <a:ext cx="3240000" cy="1440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1. 검색 필터 패널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상태 (전체/성공/실패/실행중)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Zone, Agent코드, Agent유형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날짜 범위 (시작일 ~ 종료일)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텍스트 검색 (Agent명)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2. 실행 이력 테이블 (페이징)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Agent명, 코드, 유형, 상태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읽기/쓰기/스킵 건수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소요시간, 트리거 유형, 시작시각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- 20건 단위 페이징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클릭 시 실행 상세로 이동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3200" y="2700000"/>
            <a:ext cx="3240000" cy="251999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관련테이블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3200" y="2988000"/>
            <a:ext cx="3240000" cy="1080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1. execution_history  (실행 이력)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2. agent  (에이전트 (필터용))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80000" y="108000"/>
          <a:ext cx="106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0"/>
                <a:gridCol w="2700000"/>
                <a:gridCol w="648000"/>
                <a:gridCol w="3060000"/>
                <a:gridCol w="648000"/>
                <a:gridCol w="1080000"/>
                <a:gridCol w="648000"/>
                <a:gridCol w="1080000"/>
              </a:tblGrid>
              <a:tr h="28800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프로젝트명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GIMS Sync Orchestrator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 rowSpan="2"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문서명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 rowSpan="2"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화면 정의서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작성자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Claude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작업일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2026-03-20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시스템명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동기화 관제 시스템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 vMerge="1"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 vMerge="1"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확인자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확인일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화면ID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UI_ORCH_005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화면명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실행 상세 (Execution Detail)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버전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1.0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80000" y="1080000"/>
            <a:ext cx="8413200" cy="3060000"/>
          </a:xfrm>
          <a:prstGeom prst="rect">
            <a:avLst/>
          </a:prstGeom>
          <a:solidFill>
            <a:srgbClr val="FAFAFA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152000"/>
            <a:ext cx="8197200" cy="216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경로: /executions/[id]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1440000"/>
            <a:ext cx="8197200" cy="2628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┌ 실행 요약 ──────────────────────┐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│ ID: xxx-xxx  상태: [SUCCESS]     │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│ 시작: 2026-03-20 10:00           │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│ 읽기: 150  쓰기: 148  스킵: 2    │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└──────────────────────────────────┘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┌ 테이블 통계 ────────────────────┐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│ 테이블명 | 유형 | Total | OK | NG│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│ ────────────────────────────────│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└──────────────────────────────────┘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┌ 데이터 뷰 ─────────────────────┐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│ [테이블 선택▼] [검색] [필터]     │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│ col1 | col2 | col3 | source_refs│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│ ── 행 클릭 시 추적 펼침 ──────│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└──────────────────────────────────┘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3200" y="1080000"/>
            <a:ext cx="3240000" cy="251999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설    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3200" y="1368000"/>
            <a:ext cx="3240000" cy="1440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1. 실행 요약 헤더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실행ID, 상태, 시작/종료, 소요시간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오류 메시지 (실패 시)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총 읽기/쓰기/스킵 건수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2. 테이블 통계 카드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테이블명, 유형(SOURCE/TARGET_IF/TARGET)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건수(Total/Success/Failed/Skip)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3. 데이터 뷰 패널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테이블 선택 → 데이터 목록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컬럼 정렬, 검색, 상태 필터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행 클릭 → Source↔Target 추적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4. 데이터 추적 (Tracing)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SOURCE → TARGET 정방향 추적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TARGET → SOURCE 역방향 추적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source_refs, PK 기반 매칭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3200" y="2700000"/>
            <a:ext cx="3240000" cy="251999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관련테이블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3200" y="2988000"/>
            <a:ext cx="3240000" cy="1080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1. execution_history  (실행 이력 (요약 정보))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2. execution_step_history  (실행 스텝 이력)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3. datasource / datasource_table  (데이터소스 (테이블명 조회용))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80000" y="108000"/>
          <a:ext cx="106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0"/>
                <a:gridCol w="2700000"/>
                <a:gridCol w="648000"/>
                <a:gridCol w="3060000"/>
                <a:gridCol w="648000"/>
                <a:gridCol w="1080000"/>
                <a:gridCol w="648000"/>
                <a:gridCol w="1080000"/>
              </a:tblGrid>
              <a:tr h="28800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프로젝트명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GIMS Sync Orchestrator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 rowSpan="2"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문서명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 rowSpan="2"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화면 정의서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작성자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Claude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작업일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2026-03-20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시스템명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동기화 관제 시스템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 vMerge="1"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 vMerge="1"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확인자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확인일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화면ID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UI_ORCH_006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화면명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DB 관리 (Datasource Management)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버전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1.0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80000" y="1080000"/>
            <a:ext cx="8413200" cy="3060000"/>
          </a:xfrm>
          <a:prstGeom prst="rect">
            <a:avLst/>
          </a:prstGeom>
          <a:solidFill>
            <a:srgbClr val="FAFAFA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152000"/>
            <a:ext cx="8197200" cy="216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경로: /datasources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1440000"/>
            <a:ext cx="8197200" cy="2628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[ 데이터소스 추가 버튼 ]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DS ID | 이름 | DB유형 | Zone | Host | Port | DB명 | 상태 | 액션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...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┌ 테이블 관리 모달 ────────────────┐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│ [테이블 검색: _______] [검색]     │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│                                  │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│ ▶ 등록된 테이블 목록              │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│ 테이블명 | 별칭 | 설명 | 삭제     │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│                                  │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│ ▶ 컬럼 상세                      │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│ 컬럼명 | 타입 | PK | Null | 별칭  │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└──────────────────────────────────┘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3200" y="1080000"/>
            <a:ext cx="3240000" cy="251999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설    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3200" y="1368000"/>
            <a:ext cx="3240000" cy="1440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1. 데이터소스 목록 테이블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DS ID, 이름, DB유형, Zone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Host, Port, DB명, 활성상태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액션: 테이블관리, 연결테스트, 수정, 삭제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2. 데이터소스 등록/수정 폼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기본정보: ID, 이름, DB유형, 설명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연결정보: Host, Port, DB명, 계정, 비밀번호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Zone 선택, 연결 테스트 버튼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DB유형 선택 시 기본 포트 자동 입력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3. 테이블 관리 모달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테이블 검색 → 등록 (별칭, 설명)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컬럼 메타데이터 자동 수집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  (컬럼명, 타입, PK, Nullable, 별칭)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   - 등록된 테이블 삭제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3200" y="2700000"/>
            <a:ext cx="3240000" cy="251999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관련테이블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3200" y="2988000"/>
            <a:ext cx="3240000" cy="1080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1. datasource  (데이터소스 연결정보)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2. datasource_table  (등록 테이블 메타데이터)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3. datasource_column  (테이블 컬럼 메타데이터)</a:t>
            </a:r>
          </a:p>
          <a:p>
            <a:pPr>
              <a:spcAft>
                <a:spcPts val="200"/>
              </a:spcAft>
              <a:defRPr sz="900" b="0">
                <a:solidFill>
                  <a:srgbClr val="000000"/>
                </a:solidFill>
                <a:latin typeface="맑은 고딕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08000"/>
            <a:ext cx="7200000" cy="360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00000"/>
                </a:solidFill>
                <a:latin typeface="맑은 고딕"/>
              </a:defRPr>
            </a:pPr>
            <a:r>
              <a:t>UI_ORCH_001  대시보드 (Dashboard)  —  테이블 컬럼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540000"/>
            <a:ext cx="11833200" cy="216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▶ agent  (에이전트 등록정보)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0000" y="738000"/>
          <a:ext cx="118332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9150"/>
                <a:gridCol w="1479150"/>
                <a:gridCol w="1479150"/>
                <a:gridCol w="1479150"/>
                <a:gridCol w="1479150"/>
                <a:gridCol w="1479150"/>
                <a:gridCol w="1479150"/>
                <a:gridCol w="1479150"/>
              </a:tblGrid>
              <a:tr h="180000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ID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에이전트코드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에이전트명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존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유형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상태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마지막실행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마지막결과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id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agent_code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agent_name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zone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agent_type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status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last_executed_at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last_execution_status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BIGINT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VARCHAR(50)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VARCHAR(100)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VARCHAR(50)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VARCHAR(20)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VARCHAR(20)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TIMESTAMP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VARCHAR(20)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0000" y="1458000"/>
            <a:ext cx="11833200" cy="216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▶ execution_history  (실행 이력)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0000" y="1656000"/>
          <a:ext cx="11833195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745"/>
                <a:gridCol w="1075745"/>
                <a:gridCol w="1075745"/>
                <a:gridCol w="1075745"/>
                <a:gridCol w="1075745"/>
                <a:gridCol w="1075745"/>
                <a:gridCol w="1075745"/>
                <a:gridCol w="1075745"/>
                <a:gridCol w="1075745"/>
                <a:gridCol w="1075745"/>
                <a:gridCol w="1075745"/>
              </a:tblGrid>
              <a:tr h="180000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실행ID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에이전트코드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에이전트명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유형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상태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읽기건수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쓰기건수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스킵건수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소요시간(ms)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트리거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시작시각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execution_id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agent_code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agent_name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agent_type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status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total_read_count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total_write_count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total_skip_count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duration_ms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triggered_by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started_at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VARCHAR(100)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VARCHAR(50)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VARCHAR(100)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VARCHAR(30)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VARCHAR(20)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BIGINT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BIGINT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BIGINT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BIGINT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VARCHAR(20)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TIMESTAMP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08000"/>
            <a:ext cx="7200000" cy="360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00000"/>
                </a:solidFill>
                <a:latin typeface="맑은 고딕"/>
              </a:defRPr>
            </a:pPr>
            <a:r>
              <a:t>UI_ORCH_002  Agent 관리 (Agent Management)  —  테이블 컬럼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540000"/>
            <a:ext cx="11833200" cy="216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▶ agent  (에이전트 등록정보)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0000" y="738000"/>
          <a:ext cx="118332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3320"/>
                <a:gridCol w="1183320"/>
                <a:gridCol w="1183320"/>
                <a:gridCol w="1183320"/>
                <a:gridCol w="1183320"/>
                <a:gridCol w="1183320"/>
                <a:gridCol w="1183320"/>
                <a:gridCol w="1183320"/>
                <a:gridCol w="1183320"/>
                <a:gridCol w="1183320"/>
              </a:tblGrid>
              <a:tr h="180000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ID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에이전트코드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에이전트명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엔드포인트URL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존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유형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상태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소스DS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타겟DS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활성화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id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agent_code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agent_name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endpoint_url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zone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agent_type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status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source_datasource_id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target_datasource_id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is_active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BIGINT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VARCHAR(50)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VARCHAR(100)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VARCHAR(255)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VARCHAR(50)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VARCHAR(20)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VARCHAR(20)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VARCHAR(50)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VARCHAR(50)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BOOLEAN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0000" y="1458000"/>
            <a:ext cx="11833200" cy="216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▶ agent_table  (에이전트-테이블 매핑)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0000" y="1656000"/>
          <a:ext cx="118332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8300"/>
                <a:gridCol w="2958300"/>
                <a:gridCol w="2958300"/>
                <a:gridCol w="2958300"/>
              </a:tblGrid>
              <a:tr h="180000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ID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에이전트ID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DS테이블ID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테이블유형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id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agent_id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datasource_table_id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table_type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BIGINT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BIGINT (FK)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BIGINT (FK)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VARCHAR(20)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0000" y="2376000"/>
            <a:ext cx="11833200" cy="216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▶ schedule  (스케줄 설정 (등록 시 생성))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0000" y="2574000"/>
          <a:ext cx="118332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8300"/>
                <a:gridCol w="2958300"/>
                <a:gridCol w="2958300"/>
                <a:gridCol w="2958300"/>
              </a:tblGrid>
              <a:tr h="180000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스케줄ID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에이전트ID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Cron식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활성화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schedule_id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agent_id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cron_expression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is_enabled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BIGINT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BIGINT (FK)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VARCHAR(50)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BOOLEAN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08000"/>
            <a:ext cx="7200000" cy="360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00000"/>
                </a:solidFill>
                <a:latin typeface="맑은 고딕"/>
              </a:defRPr>
            </a:pPr>
            <a:r>
              <a:t>UI_ORCH_003  Agent 상세 (Agent Detail)  —  테이블 컬럼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540000"/>
            <a:ext cx="11833200" cy="216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▶ agent  (에이전트 등록정보)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0000" y="738000"/>
          <a:ext cx="118332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9150"/>
                <a:gridCol w="1479150"/>
                <a:gridCol w="1479150"/>
                <a:gridCol w="1479150"/>
                <a:gridCol w="1479150"/>
                <a:gridCol w="1479150"/>
                <a:gridCol w="1479150"/>
                <a:gridCol w="1479150"/>
              </a:tblGrid>
              <a:tr h="180000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에이전트코드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에이전트명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유형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존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상태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소스DS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타겟DS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Retention설정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agent_code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agent_name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agent_type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zone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status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source_datasource_id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target_datasource_id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retention_config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VARCHAR(50)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VARCHAR(100)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VARCHAR(20)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VARCHAR(50)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VARCHAR(20)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VARCHAR(50)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VARCHAR(50)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TEXT (JSON)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0000" y="1458000"/>
            <a:ext cx="11833200" cy="216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▶ schedule  (스케줄 설정)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0000" y="1656000"/>
          <a:ext cx="118332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2200"/>
                <a:gridCol w="1972200"/>
                <a:gridCol w="1972200"/>
                <a:gridCol w="1972200"/>
                <a:gridCol w="1972200"/>
                <a:gridCol w="1972200"/>
              </a:tblGrid>
              <a:tr h="180000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스케줄ID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에이전트ID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Cron식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활성화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실행옵션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생성일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schedule_id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agent_id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cron_expression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is_enabled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execution_options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created_at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BIGINT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BIGINT (FK)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VARCHAR(50)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BOOLEAN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TEXT (JSON)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TIMESTAMP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0000" y="2376000"/>
            <a:ext cx="11833200" cy="216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▶ execution_history  (실행 이력 (이력 탭))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0000" y="2574000"/>
          <a:ext cx="11833199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457"/>
                <a:gridCol w="1690457"/>
                <a:gridCol w="1690457"/>
                <a:gridCol w="1690457"/>
                <a:gridCol w="1690457"/>
                <a:gridCol w="1690457"/>
                <a:gridCol w="1690457"/>
              </a:tblGrid>
              <a:tr h="180000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실행ID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상태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읽기건수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쓰기건수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소요시간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트리거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시작시각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execution_id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status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total_read_count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total_write_count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duration_ms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triggered_by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started_at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VARCHAR(100)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VARCHAR(20)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BIGINT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BIGINT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BIGINT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VARCHAR(20)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TIMESTAMP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08000"/>
            <a:ext cx="7200000" cy="360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00000"/>
                </a:solidFill>
                <a:latin typeface="맑은 고딕"/>
              </a:defRPr>
            </a:pPr>
            <a:r>
              <a:t>UI_ORCH_004  실행 이력 (Execution History)  —  테이블 컬럼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540000"/>
            <a:ext cx="11833200" cy="216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▶ execution_history  (실행 이력)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0000" y="738000"/>
          <a:ext cx="11833198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246"/>
                <a:gridCol w="910246"/>
                <a:gridCol w="910246"/>
                <a:gridCol w="910246"/>
                <a:gridCol w="910246"/>
                <a:gridCol w="910246"/>
                <a:gridCol w="910246"/>
                <a:gridCol w="910246"/>
                <a:gridCol w="910246"/>
                <a:gridCol w="910246"/>
                <a:gridCol w="910246"/>
                <a:gridCol w="910246"/>
                <a:gridCol w="910246"/>
              </a:tblGrid>
              <a:tr h="180000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실행ID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에이전트코드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에이전트명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유형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상태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읽기건수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쓰기건수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스킵건수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소요시간(ms)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오류메시지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시작시각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종료시각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트리거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execution_id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agent_code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agent_name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agent_type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status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total_read_count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total_write_count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total_skip_count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duration_ms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error_message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started_at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finished_at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triggered_by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VARCHAR(100)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VARCHAR(50)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VARCHAR(100)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VARCHAR(30)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VARCHAR(20)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BIGINT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BIGINT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BIGINT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BIGINT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TEXT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TIMESTAMP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TIMESTAMP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VARCHAR(20)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0000" y="1458000"/>
            <a:ext cx="11833200" cy="216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▶ agent  (에이전트 (필터용))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0000" y="1656000"/>
          <a:ext cx="118332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8300"/>
                <a:gridCol w="2958300"/>
                <a:gridCol w="2958300"/>
                <a:gridCol w="2958300"/>
              </a:tblGrid>
              <a:tr h="180000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에이전트코드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에이전트명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유형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존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agent_code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agent_name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agent_type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zone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VARCHAR(50)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VARCHAR(100)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VARCHAR(20)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VARCHAR(50)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08000"/>
            <a:ext cx="7200000" cy="360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00000"/>
                </a:solidFill>
                <a:latin typeface="맑은 고딕"/>
              </a:defRPr>
            </a:pPr>
            <a:r>
              <a:t>UI_ORCH_005  실행 상세 (Execution Detail)  —  테이블 컬럼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540000"/>
            <a:ext cx="11833200" cy="216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▶ execution_history  (실행 이력 (요약 정보))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0000" y="738000"/>
          <a:ext cx="118332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800"/>
                <a:gridCol w="1314800"/>
                <a:gridCol w="1314800"/>
                <a:gridCol w="1314800"/>
                <a:gridCol w="1314800"/>
                <a:gridCol w="1314800"/>
                <a:gridCol w="1314800"/>
                <a:gridCol w="1314800"/>
                <a:gridCol w="1314800"/>
              </a:tblGrid>
              <a:tr h="180000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실행ID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상태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읽기건수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쓰기건수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스킵건수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소요시간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오류메시지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시작시각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종료시각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execution_id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status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total_read_count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total_write_count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total_skip_count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duration_ms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error_message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started_at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finished_at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VARCHAR(100)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VARCHAR(20)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BIGINT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BIGINT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BIGINT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BIGINT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TEXT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TIMESTAMP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TIMESTAMP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0000" y="1458000"/>
            <a:ext cx="11833200" cy="216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▶ execution_step_history  (실행 스텝 이력)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0000" y="1656000"/>
          <a:ext cx="118332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3320"/>
                <a:gridCol w="1183320"/>
                <a:gridCol w="1183320"/>
                <a:gridCol w="1183320"/>
                <a:gridCol w="1183320"/>
                <a:gridCol w="1183320"/>
                <a:gridCol w="1183320"/>
                <a:gridCol w="1183320"/>
                <a:gridCol w="1183320"/>
                <a:gridCol w="1183320"/>
              </a:tblGrid>
              <a:tr h="180000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ID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실행ID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스텝ID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상태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읽기건수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쓰기건수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스킵건수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소요시간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오류메시지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스텝순서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id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execution_id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step_id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status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read_count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write_count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skip_count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duration_ms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error_message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step_order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BIGINT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VARCHAR(100)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VARCHAR(100)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VARCHAR(20)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INTEGER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INTEGER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INTEGER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BIGINT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TEXT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INTEGER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0000" y="2376000"/>
            <a:ext cx="11833200" cy="216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▶ datasource / datasource_table  (데이터소스 (테이블명 조회용))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0000" y="2574000"/>
          <a:ext cx="118332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6640"/>
                <a:gridCol w="2366640"/>
                <a:gridCol w="2366640"/>
                <a:gridCol w="2366640"/>
                <a:gridCol w="2366640"/>
              </a:tblGrid>
              <a:tr h="180000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DS ID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DS명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테이블ID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테이블명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테이블별칭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datasource_id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datasource_name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datasource_table.id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table_name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table_alias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VARCHAR(50)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VARCHAR(100)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BIGINT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VARCHAR(100)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VARCHAR(100)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08000"/>
            <a:ext cx="7200000" cy="360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00000"/>
                </a:solidFill>
                <a:latin typeface="맑은 고딕"/>
              </a:defRPr>
            </a:pPr>
            <a:r>
              <a:t>UI_ORCH_006  DB 관리 (Datasource Management)  —  테이블 컬럼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540000"/>
            <a:ext cx="11833200" cy="216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▶ datasource  (데이터소스 연결정보)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0000" y="738000"/>
          <a:ext cx="11833195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745"/>
                <a:gridCol w="1075745"/>
                <a:gridCol w="1075745"/>
                <a:gridCol w="1075745"/>
                <a:gridCol w="1075745"/>
                <a:gridCol w="1075745"/>
                <a:gridCol w="1075745"/>
                <a:gridCol w="1075745"/>
                <a:gridCol w="1075745"/>
                <a:gridCol w="1075745"/>
                <a:gridCol w="1075745"/>
              </a:tblGrid>
              <a:tr h="180000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DS ID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DS명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DB유형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호스트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포트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DB명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계정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비밀번호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존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활성화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datasource_id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datasource_name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db_type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host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port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database_name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username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password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description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zone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is_active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VARCHAR(50)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VARCHAR(100)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VARCHAR(20)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VARCHAR(255)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INTEGER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VARCHAR(100)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VARCHAR(512)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VARCHAR(1024)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TEXT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VARCHAR(50)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BOOLEAN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0000" y="1458000"/>
            <a:ext cx="11833200" cy="216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▶ datasource_table  (등록 테이블 메타데이터)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0000" y="1656000"/>
          <a:ext cx="118332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2200"/>
                <a:gridCol w="1972200"/>
                <a:gridCol w="1972200"/>
                <a:gridCol w="1972200"/>
                <a:gridCol w="1972200"/>
                <a:gridCol w="1972200"/>
              </a:tblGrid>
              <a:tr h="180000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ID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DS ID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테이블명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별칭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생성일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id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datasource_id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table_name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table_alias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description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created_at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BIGINT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VARCHAR(50)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VARCHAR(100)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VARCHAR(100)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VARCHAR(500)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TIMESTAMP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0000" y="2376000"/>
            <a:ext cx="11833200" cy="216000"/>
          </a:xfrm>
          <a:prstGeom prst="rect">
            <a:avLst/>
          </a:prstGeom>
          <a:noFill/>
        </p:spPr>
        <p:txBody>
          <a:bodyPr wrap="square" lIns="108000" tIns="7200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▶ datasource_column  (테이블 컬럼 메타데이터)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0000" y="2574000"/>
          <a:ext cx="118332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9150"/>
                <a:gridCol w="1479150"/>
                <a:gridCol w="1479150"/>
                <a:gridCol w="1479150"/>
                <a:gridCol w="1479150"/>
                <a:gridCol w="1479150"/>
                <a:gridCol w="1479150"/>
                <a:gridCol w="1479150"/>
              </a:tblGrid>
              <a:tr h="180000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ID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DS테이블ID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컬럼명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별칭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데이터타입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PK여부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Null허용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 anchor="ctr" marL="36000" marR="36000" marT="18000" marB="18000">
                    <a:solidFill>
                      <a:srgbClr val="D6E4F0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id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datasource_table_id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column_name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column_alias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data_type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is_primary_key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is_nullable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00080"/>
                          </a:solidFill>
                          <a:latin typeface="맑은 고딕"/>
                        </a:defRPr>
                      </a:pPr>
                      <a:r>
                        <a:t>description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BIGINT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BIGINT (FK)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VARCHAR(100)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VARCHAR(100)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VARCHAR(50)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BOOLEAN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BOOLEAN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맑은 고딕"/>
                        </a:defRPr>
                      </a:pPr>
                      <a:r>
                        <a:t>VARCHAR(500)</a:t>
                      </a:r>
                    </a:p>
                  </a:txBody>
                  <a:tcPr anchor="ctr" marL="36000" marR="36000" marT="18000" marB="18000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